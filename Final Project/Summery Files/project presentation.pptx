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9"/>
  </p:notesMasterIdLst>
  <p:sldIdLst>
    <p:sldId id="261" r:id="rId5"/>
    <p:sldId id="257" r:id="rId6"/>
    <p:sldId id="2767" r:id="rId7"/>
    <p:sldId id="259" r:id="rId8"/>
    <p:sldId id="260" r:id="rId9"/>
    <p:sldId id="2768" r:id="rId10"/>
    <p:sldId id="270" r:id="rId11"/>
    <p:sldId id="2769" r:id="rId12"/>
    <p:sldId id="2770" r:id="rId13"/>
    <p:sldId id="2771" r:id="rId14"/>
    <p:sldId id="2773" r:id="rId15"/>
    <p:sldId id="2772" r:id="rId16"/>
    <p:sldId id="2774" r:id="rId17"/>
    <p:sldId id="27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49" autoAdjust="0"/>
    <p:restoredTop sz="91373" autoAdjust="0"/>
  </p:normalViewPr>
  <p:slideViewPr>
    <p:cSldViewPr snapToGrid="0">
      <p:cViewPr varScale="1">
        <p:scale>
          <a:sx n="75" d="100"/>
          <a:sy n="75" d="100"/>
        </p:scale>
        <p:origin x="9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22/09/2026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8B771-49B1-E002-E7E1-53F4990F1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9CF068-D383-D724-83CC-18AB03458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19C44A-B339-A2F1-5783-EC652DF01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9BA52-04B8-1494-7582-5DDC264AE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255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4264A-8682-6CD9-F83A-09CB9C586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BAB88-8C5F-623F-9558-D2BF0DAA8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D4878-5158-8061-5F26-8A1409FF1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DAD2D-6444-D9B1-A4AF-22515BE3C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768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3C5BF-CA19-8A89-BD3A-72E9400EB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34354-FA35-EDBE-CB39-198A7B6E9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6DF17-9E62-4BA2-37C2-13F27C9E7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F3509-B5B4-275D-FE8E-51BAAE930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269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5120" y="1503680"/>
            <a:ext cx="6367272" cy="2438400"/>
          </a:xfrm>
        </p:spPr>
        <p:txBody>
          <a:bodyPr>
            <a:normAutofit/>
          </a:bodyPr>
          <a:lstStyle/>
          <a:p>
            <a:pPr algn="ctr"/>
            <a:r>
              <a:rPr lang="en-IL" sz="5400" b="1" dirty="0">
                <a:solidFill>
                  <a:schemeClr val="accent1"/>
                </a:solidFill>
              </a:rPr>
              <a:t>AI</a:t>
            </a:r>
            <a:r>
              <a:rPr lang="en-US" sz="5400" b="1" dirty="0">
                <a:solidFill>
                  <a:schemeClr val="accent1"/>
                </a:solidFill>
              </a:rPr>
              <a:t> </a:t>
            </a:r>
            <a:r>
              <a:rPr lang="en-IL" sz="5400" b="1" dirty="0">
                <a:solidFill>
                  <a:schemeClr val="accent1"/>
                </a:solidFill>
              </a:rPr>
              <a:t>Based DoS Detection for SOC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130800"/>
            <a:ext cx="4985512" cy="76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Presented by Hen </a:t>
            </a:r>
            <a:r>
              <a:rPr lang="en-US" dirty="0" err="1"/>
              <a:t>Golyan</a:t>
            </a:r>
            <a:r>
              <a:rPr lang="en-US" dirty="0"/>
              <a:t> &amp; Noga Menahem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FBC74-35D9-C062-A1B7-A5F83C6D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A64AE8B5-367D-83CA-2C82-915840B22CC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9747" t="25990" b="3256"/>
          <a:stretch>
            <a:fillRect/>
          </a:stretch>
        </p:blipFill>
        <p:spPr>
          <a:xfrm>
            <a:off x="0" y="0"/>
            <a:ext cx="4909528" cy="6116320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382416"/>
          </a:xfrm>
        </p:spPr>
        <p:txBody>
          <a:bodyPr>
            <a:normAutofit/>
          </a:bodyPr>
          <a:lstStyle/>
          <a:p>
            <a:r>
              <a:rPr lang="en-IL" sz="7200" b="1" dirty="0"/>
              <a:t>The Problem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2018486"/>
            <a:ext cx="10174064" cy="42860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IL" sz="2000" dirty="0"/>
              <a:t>DoS attacks can disrupt the availability of network services. </a:t>
            </a:r>
          </a:p>
          <a:p>
            <a:pPr lvl="0"/>
            <a:r>
              <a:rPr lang="en-IL" sz="2000" dirty="0"/>
              <a:t>SOC analysts need to detect attacks quickly while minimizing false alarms. </a:t>
            </a:r>
          </a:p>
          <a:p>
            <a:pPr lvl="0"/>
            <a:r>
              <a:rPr lang="en-IL" sz="2000" dirty="0"/>
              <a:t>A simple binary prediction is not enough</a:t>
            </a:r>
            <a:r>
              <a:rPr lang="he-IL" sz="2000" dirty="0"/>
              <a:t>:</a:t>
            </a:r>
            <a:r>
              <a:rPr lang="en-IL" sz="2000" dirty="0"/>
              <a:t> analysts also need context, confidence, and supporting evidence.</a:t>
            </a:r>
            <a:endParaRPr lang="en-US" sz="2000" dirty="0"/>
          </a:p>
          <a:p>
            <a:pPr lvl="0"/>
            <a:endParaRPr lang="en-US" sz="2000" dirty="0"/>
          </a:p>
          <a:p>
            <a:pPr marL="0" lvl="0" indent="0">
              <a:buNone/>
            </a:pPr>
            <a:r>
              <a:rPr lang="en-IL" sz="2000" b="1" dirty="0"/>
              <a:t>Goal: Support faster and more informed SOC decisions.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747" y="558800"/>
            <a:ext cx="5581253" cy="863600"/>
          </a:xfrm>
        </p:spPr>
        <p:txBody>
          <a:bodyPr anchor="b">
            <a:noAutofit/>
          </a:bodyPr>
          <a:lstStyle/>
          <a:p>
            <a:r>
              <a:rPr lang="en-IL" sz="4800" b="1" dirty="0"/>
              <a:t>Project Goal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747" y="1920240"/>
            <a:ext cx="8050134" cy="3982720"/>
          </a:xfrm>
        </p:spPr>
        <p:txBody>
          <a:bodyPr anchor="t">
            <a:normAutofit fontScale="92500" lnSpcReduction="10000"/>
          </a:bodyPr>
          <a:lstStyle/>
          <a:p>
            <a:r>
              <a:rPr lang="en-IL" sz="2400" dirty="0"/>
              <a:t>Build an AI</a:t>
            </a:r>
            <a:r>
              <a:rPr lang="he-IL" sz="2400" dirty="0"/>
              <a:t> </a:t>
            </a:r>
            <a:r>
              <a:rPr lang="en-IL" sz="2400" dirty="0"/>
              <a:t>assisted SOC pipeline that can: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sz="2400" dirty="0"/>
              <a:t>Detect Normal vs. DoS network traffic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sz="2400" dirty="0"/>
              <a:t>Compare supervised and anomaly</a:t>
            </a:r>
            <a:r>
              <a:rPr lang="he-IL" sz="2400" dirty="0"/>
              <a:t> </a:t>
            </a:r>
            <a:r>
              <a:rPr lang="en-IL" sz="2400" dirty="0"/>
              <a:t>detection approaches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sz="2400" dirty="0"/>
              <a:t>Generate a DoS confidence score and risk level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sz="2400" dirty="0"/>
              <a:t>Provide explainable evidence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sz="2400" dirty="0"/>
              <a:t>Support human review and audit logging</a:t>
            </a:r>
            <a:endParaRPr lang="en-US" sz="2400" dirty="0"/>
          </a:p>
          <a:p>
            <a:pPr lvl="0"/>
            <a:endParaRPr lang="en-US" sz="2400" dirty="0"/>
          </a:p>
          <a:p>
            <a:pPr lvl="0"/>
            <a:r>
              <a:rPr lang="en-IL" sz="2400" dirty="0"/>
              <a:t>The system does not automatically block traffic.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33A0-1764-3DC0-A9D7-7733B04A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1" y="405542"/>
            <a:ext cx="7301124" cy="1375131"/>
          </a:xfrm>
        </p:spPr>
        <p:txBody>
          <a:bodyPr>
            <a:normAutofit fontScale="90000"/>
          </a:bodyPr>
          <a:lstStyle/>
          <a:p>
            <a:r>
              <a:rPr lang="en-IL" sz="4800" b="1" cap="all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Dataset – CICIDS2017</a:t>
            </a:r>
            <a:endParaRPr lang="en-US" sz="4800" b="1" cap="all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C8A9-3ADD-70A8-B9C7-245046BF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70B90F-52BB-A50F-51E6-8101E0082302}"/>
              </a:ext>
            </a:extLst>
          </p:cNvPr>
          <p:cNvSpPr txBox="1"/>
          <p:nvPr/>
        </p:nvSpPr>
        <p:spPr>
          <a:xfrm>
            <a:off x="599440" y="1780673"/>
            <a:ext cx="9621520" cy="3354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L" sz="2400" dirty="0"/>
              <a:t>Wednesday Working Hours dataset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L" sz="2400" dirty="0"/>
              <a:t>Contains benign traffic and several DoS attack types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L" sz="2400" dirty="0"/>
              <a:t>Original labels include:</a:t>
            </a:r>
            <a:br>
              <a:rPr lang="en-IL" sz="2400" dirty="0"/>
            </a:br>
            <a:r>
              <a:rPr lang="en-IL" sz="2400" dirty="0"/>
              <a:t>BENIGN, DoS Hulk, DoS </a:t>
            </a:r>
            <a:r>
              <a:rPr lang="en-IL" sz="2400" dirty="0" err="1"/>
              <a:t>GoldenEye</a:t>
            </a:r>
            <a:r>
              <a:rPr lang="en-IL" sz="2400" dirty="0"/>
              <a:t>, DoS </a:t>
            </a:r>
            <a:r>
              <a:rPr lang="en-IL" sz="2400" dirty="0" err="1"/>
              <a:t>slowloris</a:t>
            </a:r>
            <a:r>
              <a:rPr lang="en-IL" sz="2400" dirty="0"/>
              <a:t>, DoS </a:t>
            </a:r>
            <a:r>
              <a:rPr lang="en-IL" sz="2400" dirty="0" err="1"/>
              <a:t>Slowhttptest</a:t>
            </a:r>
            <a:r>
              <a:rPr lang="en-IL" sz="24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L" sz="2400" dirty="0"/>
              <a:t>Final task: </a:t>
            </a:r>
            <a:r>
              <a:rPr lang="en-IL" sz="2400" b="1" dirty="0"/>
              <a:t>Normal vs. DoS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973" y="477270"/>
            <a:ext cx="9178049" cy="1355395"/>
          </a:xfrm>
        </p:spPr>
        <p:txBody>
          <a:bodyPr>
            <a:normAutofit/>
          </a:bodyPr>
          <a:lstStyle/>
          <a:p>
            <a:r>
              <a:rPr lang="en-IL" sz="5400" b="1" dirty="0"/>
              <a:t>System Architecture</a:t>
            </a:r>
            <a:endParaRPr lang="en-US" sz="5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67AE3-F49B-E352-A529-8E3AAB9E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434FAD-8BFD-19D3-596D-D3A87DE81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770" y="5703032"/>
            <a:ext cx="11674459" cy="591941"/>
          </a:xfrm>
        </p:spPr>
        <p:txBody>
          <a:bodyPr/>
          <a:lstStyle/>
          <a:p>
            <a:r>
              <a:rPr lang="en-IL" dirty="0"/>
              <a:t>End-to-end pipeline from raw network traffic to SOC alert, human review, logging, and monitoring.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07BA98-1BF9-A1FC-B1D0-D9885B580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399" y="1439729"/>
            <a:ext cx="6025199" cy="4263303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CC690-51E0-77D5-5140-8DEC144A5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6755EF-68AB-9723-DDE5-CEEE0BFAC752}"/>
              </a:ext>
            </a:extLst>
          </p:cNvPr>
          <p:cNvSpPr/>
          <p:nvPr/>
        </p:nvSpPr>
        <p:spPr>
          <a:xfrm>
            <a:off x="6423934" y="2474107"/>
            <a:ext cx="5466736" cy="366174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918AA9-E3DD-C0F6-F6C1-384229808E87}"/>
              </a:ext>
            </a:extLst>
          </p:cNvPr>
          <p:cNvSpPr/>
          <p:nvPr/>
        </p:nvSpPr>
        <p:spPr>
          <a:xfrm>
            <a:off x="301330" y="2474107"/>
            <a:ext cx="5466736" cy="366174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C7F2B-25DA-C9EF-63A1-3F3BBBB92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747" y="558800"/>
            <a:ext cx="7811106" cy="1590842"/>
          </a:xfrm>
        </p:spPr>
        <p:txBody>
          <a:bodyPr anchor="b">
            <a:noAutofit/>
          </a:bodyPr>
          <a:lstStyle/>
          <a:p>
            <a:r>
              <a:rPr lang="en-IL" sz="4800" dirty="0"/>
              <a:t>Data Preparation &amp; Feature Selection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48FA7-99C8-C04E-3DAA-3DD9D868B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361" y="2590550"/>
            <a:ext cx="4814673" cy="2875161"/>
          </a:xfrm>
        </p:spPr>
        <p:txBody>
          <a:bodyPr anchor="t">
            <a:normAutofit/>
          </a:bodyPr>
          <a:lstStyle/>
          <a:p>
            <a:r>
              <a:rPr lang="en-IL" sz="2400" b="1" dirty="0">
                <a:solidFill>
                  <a:schemeClr val="tx1"/>
                </a:solidFill>
              </a:rPr>
              <a:t>Preprocessing</a:t>
            </a:r>
            <a:endParaRPr lang="en-IL" sz="2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>
                <a:solidFill>
                  <a:schemeClr val="tx1"/>
                </a:solidFill>
              </a:rPr>
              <a:t>Keep BENIGN and DoS traffic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>
                <a:solidFill>
                  <a:schemeClr val="tx1"/>
                </a:solidFill>
              </a:rPr>
              <a:t>Binary target: 0 = Normal, 1 = DoS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>
                <a:solidFill>
                  <a:schemeClr val="tx1"/>
                </a:solidFill>
              </a:rPr>
              <a:t>Handle missing and infinite values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>
                <a:solidFill>
                  <a:schemeClr val="tx1"/>
                </a:solidFill>
              </a:rPr>
              <a:t>80/20 stratified train-test split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1B28609-7B67-FB1A-2EC3-9C579912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6</a:t>
            </a:fld>
            <a:endParaRPr lang="en-US" noProof="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C25E79E-93D4-F21F-CEF9-7CBE8CD4092C}"/>
              </a:ext>
            </a:extLst>
          </p:cNvPr>
          <p:cNvSpPr txBox="1">
            <a:spLocks/>
          </p:cNvSpPr>
          <p:nvPr/>
        </p:nvSpPr>
        <p:spPr>
          <a:xfrm>
            <a:off x="6686275" y="2590550"/>
            <a:ext cx="4962156" cy="34288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L" sz="2400" b="1" dirty="0">
                <a:solidFill>
                  <a:schemeClr val="tx1"/>
                </a:solidFill>
              </a:rPr>
              <a:t>12 Selected Network-Flow Features</a:t>
            </a:r>
            <a:endParaRPr lang="en-IL" sz="2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>
                <a:solidFill>
                  <a:schemeClr val="tx1"/>
                </a:solidFill>
              </a:rPr>
              <a:t>Flow Duration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>
                <a:solidFill>
                  <a:schemeClr val="tx1"/>
                </a:solidFill>
              </a:rPr>
              <a:t>Packet counts and lengths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>
                <a:solidFill>
                  <a:schemeClr val="tx1"/>
                </a:solidFill>
              </a:rPr>
              <a:t>Flow Bytes/s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>
                <a:solidFill>
                  <a:schemeClr val="tx1"/>
                </a:solidFill>
              </a:rPr>
              <a:t>Flow Packets/s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>
                <a:solidFill>
                  <a:schemeClr val="tx1"/>
                </a:solidFill>
              </a:rPr>
              <a:t>SYN / ACK flags</a:t>
            </a:r>
          </a:p>
        </p:txBody>
      </p:sp>
    </p:spTree>
    <p:extLst>
      <p:ext uri="{BB962C8B-B14F-4D97-AF65-F5344CB8AC3E}">
        <p14:creationId xmlns:p14="http://schemas.microsoft.com/office/powerpoint/2010/main" val="3061682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BA28-7B5B-3D59-0D23-C072A5C2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9964112" cy="890173"/>
          </a:xfrm>
        </p:spPr>
        <p:txBody>
          <a:bodyPr>
            <a:normAutofit/>
          </a:bodyPr>
          <a:lstStyle/>
          <a:p>
            <a:r>
              <a:rPr lang="en-IL" sz="4800" b="1" dirty="0"/>
              <a:t>Machine Learning Models</a:t>
            </a:r>
            <a:endParaRPr lang="en-US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43BCF-B6AE-B157-B5A8-60575A5F5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7585" y="3023280"/>
            <a:ext cx="4348395" cy="2013941"/>
          </a:xfrm>
        </p:spPr>
        <p:txBody>
          <a:bodyPr>
            <a:normAutofit/>
          </a:bodyPr>
          <a:lstStyle/>
          <a:p>
            <a:r>
              <a:rPr lang="en-IL" sz="2400" b="1" dirty="0"/>
              <a:t>Random Forest</a:t>
            </a:r>
            <a:endParaRPr lang="en-IL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/>
              <a:t>Supervised learning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/>
              <a:t>Trained on Normal + DoS traffic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/>
              <a:t>Learns known DoS patterns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62AC7-4EBD-6C7B-71E2-19F58FD8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759DD3-0D03-95EA-D7C1-2CE51368C237}"/>
              </a:ext>
            </a:extLst>
          </p:cNvPr>
          <p:cNvSpPr txBox="1">
            <a:spLocks/>
          </p:cNvSpPr>
          <p:nvPr/>
        </p:nvSpPr>
        <p:spPr>
          <a:xfrm>
            <a:off x="6709832" y="3023280"/>
            <a:ext cx="4685820" cy="201394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L" sz="2600" b="1" dirty="0"/>
              <a:t>Isolation Forest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/>
              <a:t>Anomaly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/>
              <a:t>Trained only on Normal traffic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/>
              <a:t>Detects unusual network behaviour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C21BF93-588B-2469-CE61-2483B5EF6622}"/>
              </a:ext>
            </a:extLst>
          </p:cNvPr>
          <p:cNvSpPr/>
          <p:nvPr/>
        </p:nvSpPr>
        <p:spPr>
          <a:xfrm>
            <a:off x="6457054" y="2185408"/>
            <a:ext cx="5191377" cy="3689684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13237A-7978-FA8B-E09E-66035DE73C04}"/>
              </a:ext>
            </a:extLst>
          </p:cNvPr>
          <p:cNvSpPr/>
          <p:nvPr/>
        </p:nvSpPr>
        <p:spPr>
          <a:xfrm>
            <a:off x="627019" y="2185408"/>
            <a:ext cx="5191377" cy="3689684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62730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465-E3D0-6256-E2C7-8BEE27285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9D70C-96A9-B6D8-E002-EE2D6B35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9178049" cy="1355395"/>
          </a:xfrm>
        </p:spPr>
        <p:txBody>
          <a:bodyPr>
            <a:normAutofit/>
          </a:bodyPr>
          <a:lstStyle/>
          <a:p>
            <a:r>
              <a:rPr lang="en-IL" sz="5400" b="1" dirty="0"/>
              <a:t>Model Performance</a:t>
            </a:r>
            <a:endParaRPr lang="en-US" sz="5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C09A6-F92A-F4DE-9CBB-74389B34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91587E5-7639-04D4-D4C3-BE175E1C0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770" y="5703032"/>
            <a:ext cx="11674459" cy="591941"/>
          </a:xfrm>
        </p:spPr>
        <p:txBody>
          <a:bodyPr/>
          <a:lstStyle/>
          <a:p>
            <a:r>
              <a:rPr lang="en-IL" dirty="0"/>
              <a:t>Random Forest achieved consistently stronger performance.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78E0D2-6644-CCFD-20CF-5F6464E1D3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6" r="14758"/>
          <a:stretch>
            <a:fillRect/>
          </a:stretch>
        </p:blipFill>
        <p:spPr bwMode="auto">
          <a:xfrm>
            <a:off x="431172" y="1470718"/>
            <a:ext cx="8068385" cy="43829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22477E-0284-ABD8-9331-0237061193A2}"/>
              </a:ext>
            </a:extLst>
          </p:cNvPr>
          <p:cNvSpPr txBox="1"/>
          <p:nvPr/>
        </p:nvSpPr>
        <p:spPr>
          <a:xfrm>
            <a:off x="9058528" y="1470718"/>
            <a:ext cx="60942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L" b="1" dirty="0"/>
              <a:t>Random Forest</a:t>
            </a:r>
            <a:endParaRPr lang="en-I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/>
              <a:t>Accuracy: </a:t>
            </a:r>
            <a:r>
              <a:rPr lang="en-IL" b="1" dirty="0"/>
              <a:t>98.96%</a:t>
            </a:r>
            <a:r>
              <a:rPr lang="en-IL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/>
              <a:t>Precision: </a:t>
            </a:r>
            <a:r>
              <a:rPr lang="en-IL" b="1" dirty="0"/>
              <a:t>97.73%</a:t>
            </a:r>
            <a:r>
              <a:rPr lang="en-IL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/>
              <a:t>Recall: </a:t>
            </a:r>
            <a:r>
              <a:rPr lang="en-IL" b="1" dirty="0"/>
              <a:t>99.45%</a:t>
            </a:r>
            <a:r>
              <a:rPr lang="en-IL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/>
              <a:t>F1 Score: </a:t>
            </a:r>
            <a:r>
              <a:rPr lang="en-IL" b="1" dirty="0"/>
              <a:t>98.58%</a:t>
            </a:r>
            <a:r>
              <a:rPr lang="en-I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8222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CA9EF-E6F7-8018-C131-9A3E02100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32F0-F6AF-978E-0C2D-54641D90D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747" y="848360"/>
            <a:ext cx="10808573" cy="863600"/>
          </a:xfrm>
        </p:spPr>
        <p:txBody>
          <a:bodyPr anchor="b">
            <a:noAutofit/>
          </a:bodyPr>
          <a:lstStyle/>
          <a:p>
            <a:r>
              <a:rPr lang="en-IL" sz="4800" b="1" dirty="0"/>
              <a:t>Security</a:t>
            </a:r>
            <a:r>
              <a:rPr lang="he-IL" sz="4800" b="1" dirty="0"/>
              <a:t> </a:t>
            </a:r>
            <a:r>
              <a:rPr lang="en-IL" sz="4800" b="1" dirty="0"/>
              <a:t>Relevant Error Rates</a:t>
            </a:r>
            <a:endParaRPr lang="en-US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5B5F5-BF58-C228-9FAE-2E22D5180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746" y="1920240"/>
            <a:ext cx="10153253" cy="3982720"/>
          </a:xfrm>
        </p:spPr>
        <p:txBody>
          <a:bodyPr anchor="t">
            <a:normAutofit fontScale="85000" lnSpcReduction="20000"/>
          </a:bodyPr>
          <a:lstStyle/>
          <a:p>
            <a:r>
              <a:rPr lang="en-IL" sz="2400" b="1" dirty="0"/>
              <a:t>Random Forest</a:t>
            </a:r>
            <a:endParaRPr lang="en-IL" sz="2400" dirty="0"/>
          </a:p>
          <a:p>
            <a:pPr lvl="0"/>
            <a:r>
              <a:rPr lang="en-IL" sz="2400" dirty="0"/>
              <a:t>False Positive Rate: </a:t>
            </a:r>
            <a:r>
              <a:rPr lang="en-IL" sz="2400" b="1" dirty="0"/>
              <a:t>1.32%</a:t>
            </a:r>
            <a:r>
              <a:rPr lang="en-IL" sz="2400" dirty="0"/>
              <a:t> </a:t>
            </a:r>
          </a:p>
          <a:p>
            <a:pPr lvl="0"/>
            <a:r>
              <a:rPr lang="en-IL" sz="2400" dirty="0"/>
              <a:t>False Negative Rate: </a:t>
            </a:r>
            <a:r>
              <a:rPr lang="en-IL" sz="2400" b="1" dirty="0"/>
              <a:t>0.55%</a:t>
            </a:r>
            <a:r>
              <a:rPr lang="en-IL" sz="2400" dirty="0"/>
              <a:t> </a:t>
            </a:r>
            <a:endParaRPr lang="he-IL" sz="2400" dirty="0"/>
          </a:p>
          <a:p>
            <a:pPr lvl="0"/>
            <a:endParaRPr lang="en-IL" sz="2400" dirty="0"/>
          </a:p>
          <a:p>
            <a:r>
              <a:rPr lang="en-IL" sz="2400" b="1" dirty="0"/>
              <a:t>Isolation Forest</a:t>
            </a:r>
            <a:endParaRPr lang="en-IL" sz="2400" dirty="0"/>
          </a:p>
          <a:p>
            <a:pPr lvl="0"/>
            <a:r>
              <a:rPr lang="en-IL" sz="2400" dirty="0"/>
              <a:t>False Positive Rate: </a:t>
            </a:r>
            <a:r>
              <a:rPr lang="en-IL" sz="2400" b="1" dirty="0"/>
              <a:t>10.08%</a:t>
            </a:r>
            <a:r>
              <a:rPr lang="en-IL" sz="2400" dirty="0"/>
              <a:t> </a:t>
            </a:r>
          </a:p>
          <a:p>
            <a:pPr lvl="0"/>
            <a:r>
              <a:rPr lang="en-IL" sz="2400" dirty="0"/>
              <a:t>False Negative Rate: </a:t>
            </a:r>
            <a:r>
              <a:rPr lang="en-IL" sz="2400" b="1" dirty="0"/>
              <a:t>35.50%</a:t>
            </a:r>
            <a:endParaRPr lang="he-IL" sz="2400" b="1" dirty="0"/>
          </a:p>
          <a:p>
            <a:pPr lvl="0"/>
            <a:endParaRPr lang="he-IL" sz="2400" b="1" dirty="0"/>
          </a:p>
          <a:p>
            <a:pPr lvl="0"/>
            <a:r>
              <a:rPr lang="en-IL" sz="2400" dirty="0"/>
              <a:t>Random Forest missed far fewer DoS attacks and produced fewer false alarms.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D09DC4A-6FD8-7ABF-3DD9-746EF087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4761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F7D22-3245-F0A2-DE9E-907A34F19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D3F74-B67F-54F3-DD47-2CCA0D56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2" y="448808"/>
            <a:ext cx="10953109" cy="1375131"/>
          </a:xfrm>
        </p:spPr>
        <p:txBody>
          <a:bodyPr>
            <a:normAutofit/>
          </a:bodyPr>
          <a:lstStyle/>
          <a:p>
            <a:r>
              <a:rPr lang="en-IL" sz="4300" b="1" cap="all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SOC Risk Scoring &amp; Policy Gate</a:t>
            </a:r>
            <a:endParaRPr lang="en-US" sz="4300" b="1" cap="all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3A834BA-DCE7-B69D-8188-E6A2C8B66B6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/>
          <a:stretch>
            <a:fillRect/>
          </a:stretch>
        </p:blipFill>
        <p:spPr>
          <a:xfrm>
            <a:off x="1339284" y="1136374"/>
            <a:ext cx="9513432" cy="53541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79413-F68C-0CD6-A2E9-975E3819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8E4442-FF1C-D4D9-97F2-15EA9AF120BF}"/>
              </a:ext>
            </a:extLst>
          </p:cNvPr>
          <p:cNvSpPr txBox="1"/>
          <p:nvPr/>
        </p:nvSpPr>
        <p:spPr>
          <a:xfrm>
            <a:off x="1099970" y="5839616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/>
              <a:t>No automatic blocking is performed.</a:t>
            </a:r>
          </a:p>
        </p:txBody>
      </p:sp>
    </p:spTree>
    <p:extLst>
      <p:ext uri="{BB962C8B-B14F-4D97-AF65-F5344CB8AC3E}">
        <p14:creationId xmlns:p14="http://schemas.microsoft.com/office/powerpoint/2010/main" val="3375650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E9E31-87EE-6984-6DB0-0DD6962A6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C90D-FF88-353C-0654-550B32A2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1" y="238172"/>
            <a:ext cx="10964415" cy="981450"/>
          </a:xfrm>
        </p:spPr>
        <p:txBody>
          <a:bodyPr>
            <a:noAutofit/>
          </a:bodyPr>
          <a:lstStyle/>
          <a:p>
            <a:pPr algn="ctr"/>
            <a:r>
              <a:rPr lang="en-IL" sz="4000" b="1" dirty="0"/>
              <a:t>Explainability &amp; Human</a:t>
            </a:r>
            <a:r>
              <a:rPr lang="he-IL" sz="4000" b="1" dirty="0"/>
              <a:t> </a:t>
            </a:r>
            <a:r>
              <a:rPr lang="en-IL" sz="4000" b="1" dirty="0"/>
              <a:t>in</a:t>
            </a:r>
            <a:r>
              <a:rPr lang="he-IL" sz="4000" b="1" dirty="0"/>
              <a:t> </a:t>
            </a:r>
            <a:r>
              <a:rPr lang="en-IL" sz="4000" b="1" dirty="0"/>
              <a:t>the</a:t>
            </a:r>
            <a:r>
              <a:rPr lang="he-IL" sz="4000" b="1" dirty="0"/>
              <a:t> </a:t>
            </a:r>
            <a:r>
              <a:rPr lang="en-IL" sz="4000" b="1" dirty="0"/>
              <a:t>Loop</a:t>
            </a:r>
            <a:endParaRPr lang="en-US" sz="4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A27C9-6CAF-7AB4-2DBC-4B3AC30AE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AD47E4-B68B-1DC2-C9F6-2D856DD19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39" y="1525619"/>
            <a:ext cx="5345113" cy="3150863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BC6B1D-544B-46E6-3061-6489051DA582}"/>
              </a:ext>
            </a:extLst>
          </p:cNvPr>
          <p:cNvSpPr txBox="1"/>
          <p:nvPr/>
        </p:nvSpPr>
        <p:spPr>
          <a:xfrm>
            <a:off x="380939" y="4832691"/>
            <a:ext cx="6094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L" b="1" dirty="0"/>
              <a:t>Global Explainability</a:t>
            </a:r>
            <a:endParaRPr lang="en-I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/>
              <a:t>Random Forest feature importance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/>
              <a:t>Most influential features include Packet Length Mean and </a:t>
            </a:r>
            <a:r>
              <a:rPr lang="en-IL" dirty="0" err="1"/>
              <a:t>Bwd</a:t>
            </a:r>
            <a:r>
              <a:rPr lang="en-IL" dirty="0"/>
              <a:t> Packet Length Mean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BEE3EB-7CFC-4168-0E23-EE67A292B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548"/>
          <a:stretch>
            <a:fillRect/>
          </a:stretch>
        </p:blipFill>
        <p:spPr>
          <a:xfrm>
            <a:off x="5894778" y="1512854"/>
            <a:ext cx="5968807" cy="1548216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F0A7281-514A-16AC-032F-C798E8C3FB9B}"/>
              </a:ext>
            </a:extLst>
          </p:cNvPr>
          <p:cNvSpPr txBox="1"/>
          <p:nvPr/>
        </p:nvSpPr>
        <p:spPr>
          <a:xfrm>
            <a:off x="5832078" y="3217279"/>
            <a:ext cx="60942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L" b="1" dirty="0"/>
              <a:t>Human Review</a:t>
            </a:r>
            <a:endParaRPr lang="en-I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/>
              <a:t>High-risk alerts are escalated to an analyst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 dirty="0"/>
              <a:t>Analyst can confirm DoS or mark a false positive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B0259A-BC42-381F-49CC-1F2243497881}"/>
              </a:ext>
            </a:extLst>
          </p:cNvPr>
          <p:cNvSpPr txBox="1"/>
          <p:nvPr/>
        </p:nvSpPr>
        <p:spPr>
          <a:xfrm>
            <a:off x="7177548" y="5058727"/>
            <a:ext cx="39722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L" sz="2000" b="1" dirty="0"/>
              <a:t>AI supports the analyst</a:t>
            </a:r>
            <a:r>
              <a:rPr lang="he-IL" sz="2000" b="1" dirty="0"/>
              <a:t>,</a:t>
            </a:r>
            <a:r>
              <a:rPr lang="en-IL" sz="2000" b="1" dirty="0"/>
              <a:t> </a:t>
            </a:r>
            <a:endParaRPr lang="he-IL" sz="2000" b="1" dirty="0"/>
          </a:p>
          <a:p>
            <a:pPr algn="ctr">
              <a:buNone/>
            </a:pPr>
            <a:r>
              <a:rPr lang="en-IL" sz="2000" b="1" dirty="0"/>
              <a:t>it does not replace the analyst.</a:t>
            </a:r>
          </a:p>
        </p:txBody>
      </p:sp>
    </p:spTree>
    <p:extLst>
      <p:ext uri="{BB962C8B-B14F-4D97-AF65-F5344CB8AC3E}">
        <p14:creationId xmlns:p14="http://schemas.microsoft.com/office/powerpoint/2010/main" val="3463744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6DE5-0CEF-584E-C86A-5B88757B3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9E142-FC96-1A45-580D-60C16418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258" y="293493"/>
            <a:ext cx="8851884" cy="1092855"/>
          </a:xfrm>
        </p:spPr>
        <p:txBody>
          <a:bodyPr>
            <a:normAutofit/>
          </a:bodyPr>
          <a:lstStyle/>
          <a:p>
            <a:r>
              <a:rPr lang="en-IL" sz="7200" b="1" dirty="0"/>
              <a:t>Final SOC Alert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15DB3-BA90-85C1-800C-D8B1387739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916" y="2419730"/>
            <a:ext cx="3837432" cy="20913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L" sz="2000" b="1" dirty="0"/>
              <a:t>MITRE ATT&amp;CK</a:t>
            </a:r>
            <a:endParaRPr lang="en-IL" sz="2000" dirty="0"/>
          </a:p>
          <a:p>
            <a:pPr lvl="0"/>
            <a:r>
              <a:rPr lang="en-IL" sz="2000" dirty="0"/>
              <a:t>Tactic: Impact </a:t>
            </a:r>
          </a:p>
          <a:p>
            <a:pPr lvl="0"/>
            <a:r>
              <a:rPr lang="en-IL" sz="2000" dirty="0"/>
              <a:t>Technique: T1498 </a:t>
            </a:r>
          </a:p>
          <a:p>
            <a:pPr lvl="0"/>
            <a:r>
              <a:rPr lang="en-IL" sz="2000" dirty="0"/>
              <a:t>Network Denial of Service</a:t>
            </a:r>
          </a:p>
          <a:p>
            <a:pPr lvl="0"/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6E61B-B62E-D9E9-2AA4-047826D9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BC5600-F85C-95E6-0105-8F786E84D98F}"/>
              </a:ext>
            </a:extLst>
          </p:cNvPr>
          <p:cNvSpPr txBox="1">
            <a:spLocks/>
          </p:cNvSpPr>
          <p:nvPr/>
        </p:nvSpPr>
        <p:spPr>
          <a:xfrm>
            <a:off x="429768" y="5017355"/>
            <a:ext cx="5666232" cy="1210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457200" indent="-4572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+mj-lt"/>
              <a:buAutoNum type="arabicPeriod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15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lphaLcPeriod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romanLcPeriod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arenR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lphaLcParenR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L" sz="2000" dirty="0"/>
              <a:t>The final alert combines detection, risk, evidence, MITRE mapping, and analyst decision in one output.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E2E60-9846-7D6A-C0DB-0FFF23E60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366" y="1798594"/>
            <a:ext cx="4823905" cy="442909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84604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D935A-EB2E-E57B-A2F8-B27F9677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54BA8-5AB3-9CD8-487C-EBFB7CF11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746" y="353961"/>
            <a:ext cx="10808573" cy="876218"/>
          </a:xfrm>
        </p:spPr>
        <p:txBody>
          <a:bodyPr anchor="b">
            <a:noAutofit/>
          </a:bodyPr>
          <a:lstStyle/>
          <a:p>
            <a:r>
              <a:rPr lang="en-IL" sz="4400" b="1" dirty="0"/>
              <a:t>Monitoring &amp; Retraining Policy</a:t>
            </a:r>
            <a:endParaRPr lang="en-US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E0EE4-B23D-374B-756D-410169050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746" y="1920240"/>
            <a:ext cx="10153253" cy="3982720"/>
          </a:xfrm>
        </p:spPr>
        <p:txBody>
          <a:bodyPr anchor="t">
            <a:normAutofit/>
          </a:bodyPr>
          <a:lstStyle/>
          <a:p>
            <a:r>
              <a:rPr lang="en-IL" sz="2400" u="sng" dirty="0"/>
              <a:t>Retraining is recommended if:</a:t>
            </a:r>
          </a:p>
          <a:p>
            <a:pPr lvl="0"/>
            <a:r>
              <a:rPr lang="en-IL" sz="2400" dirty="0"/>
              <a:t>Recall &lt; 95% </a:t>
            </a:r>
          </a:p>
          <a:p>
            <a:pPr lvl="0"/>
            <a:r>
              <a:rPr lang="en-IL" sz="2400" dirty="0"/>
              <a:t>False Positive Rate &gt; 5% </a:t>
            </a:r>
          </a:p>
          <a:p>
            <a:endParaRPr lang="en-IL" sz="2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C912110-D323-C42F-9979-AF7FE531F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13</a:t>
            </a:fld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8A0EF-F73E-26BC-773F-F00CF26772E9}"/>
              </a:ext>
            </a:extLst>
          </p:cNvPr>
          <p:cNvSpPr txBox="1"/>
          <p:nvPr/>
        </p:nvSpPr>
        <p:spPr>
          <a:xfrm>
            <a:off x="5552431" y="1920240"/>
            <a:ext cx="6096000" cy="1641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IL" sz="2400" u="sng" dirty="0">
                <a:solidFill>
                  <a:schemeClr val="bg1"/>
                </a:solidFill>
              </a:rPr>
              <a:t>Current Random Forest Performance</a:t>
            </a:r>
          </a:p>
          <a:p>
            <a:pPr lvl="0">
              <a:lnSpc>
                <a:spcPct val="120000"/>
              </a:lnSpc>
              <a:spcBef>
                <a:spcPts val="1000"/>
              </a:spcBef>
            </a:pPr>
            <a:r>
              <a:rPr lang="en-IL" sz="2400" dirty="0">
                <a:solidFill>
                  <a:schemeClr val="bg1"/>
                </a:solidFill>
              </a:rPr>
              <a:t>Recall: 99.45% </a:t>
            </a:r>
          </a:p>
          <a:p>
            <a:pPr lvl="0">
              <a:lnSpc>
                <a:spcPct val="120000"/>
              </a:lnSpc>
              <a:spcBef>
                <a:spcPts val="1000"/>
              </a:spcBef>
            </a:pPr>
            <a:r>
              <a:rPr lang="en-IL" sz="2400" dirty="0">
                <a:solidFill>
                  <a:schemeClr val="bg1"/>
                </a:solidFill>
              </a:rPr>
              <a:t>FPR: 1.32%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BD59E6-626F-150E-ACE6-ED107EC440B9}"/>
              </a:ext>
            </a:extLst>
          </p:cNvPr>
          <p:cNvSpPr txBox="1"/>
          <p:nvPr/>
        </p:nvSpPr>
        <p:spPr>
          <a:xfrm>
            <a:off x="1252215" y="4592116"/>
            <a:ext cx="990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L" sz="2400" b="1" dirty="0">
                <a:solidFill>
                  <a:schemeClr val="bg1"/>
                </a:solidFill>
              </a:rPr>
              <a:t>MODEL PERFORMANCE STABLE</a:t>
            </a:r>
            <a:endParaRPr lang="he-IL" sz="2400" b="1" dirty="0">
              <a:solidFill>
                <a:schemeClr val="bg1"/>
              </a:solidFill>
            </a:endParaRPr>
          </a:p>
          <a:p>
            <a:pPr algn="ctr"/>
            <a:r>
              <a:rPr lang="en-IL" dirty="0">
                <a:solidFill>
                  <a:schemeClr val="bg1"/>
                </a:solidFill>
              </a:rPr>
              <a:t>In this prototype, the policy is demonstrated using test-set performance</a:t>
            </a:r>
            <a:r>
              <a:rPr lang="en-IL" sz="2400" dirty="0">
                <a:solidFill>
                  <a:schemeClr val="bg1"/>
                </a:solidFill>
              </a:rPr>
              <a:t>.</a:t>
            </a:r>
            <a:endParaRPr lang="en-IL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73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0EC90-16A7-68D0-DBA7-8F3AA7AB9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026F-817A-686F-449A-E9062EB6C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9178049" cy="1355395"/>
          </a:xfrm>
        </p:spPr>
        <p:txBody>
          <a:bodyPr>
            <a:normAutofit/>
          </a:bodyPr>
          <a:lstStyle/>
          <a:p>
            <a:r>
              <a:rPr lang="en-IL" sz="5400" b="1" dirty="0"/>
              <a:t>Conclusion</a:t>
            </a:r>
            <a:endParaRPr lang="en-US" sz="5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AC0F4-389E-1E4B-F860-2C707A8D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467479-302D-F6ED-B01C-08F9F613F6B7}"/>
              </a:ext>
            </a:extLst>
          </p:cNvPr>
          <p:cNvSpPr txBox="1"/>
          <p:nvPr/>
        </p:nvSpPr>
        <p:spPr>
          <a:xfrm>
            <a:off x="431172" y="1571118"/>
            <a:ext cx="105517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/>
              <a:t>Random Forest achieved the best results for the selected DoS detection task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/>
              <a:t>The final pipeline goes beyond classification by adding risk scoring and explainability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/>
              <a:t>MITRE ATT&amp;CK provides standardized security context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/>
              <a:t>Human-in-the-Loop prevents fully automated security decisions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L"/>
              <a:t>Audit logging and monitoring improve traceability and future maintainability</a:t>
            </a:r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620C8D-9AF5-F759-2231-59506A39F1D6}"/>
              </a:ext>
            </a:extLst>
          </p:cNvPr>
          <p:cNvSpPr txBox="1"/>
          <p:nvPr/>
        </p:nvSpPr>
        <p:spPr>
          <a:xfrm>
            <a:off x="640080" y="3809555"/>
            <a:ext cx="9763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b="1" dirty="0"/>
              <a:t>AI</a:t>
            </a:r>
            <a:r>
              <a:rPr lang="he-IL" b="1" dirty="0"/>
              <a:t> </a:t>
            </a:r>
            <a:r>
              <a:rPr lang="en-IL" b="1" dirty="0"/>
              <a:t>assisted detection can support faster, more explainable, and more responsible SOC decision</a:t>
            </a:r>
            <a:r>
              <a:rPr lang="he-IL" b="1" dirty="0"/>
              <a:t> </a:t>
            </a:r>
            <a:r>
              <a:rPr lang="en-IL" b="1" dirty="0"/>
              <a:t>making.</a:t>
            </a:r>
          </a:p>
        </p:txBody>
      </p:sp>
    </p:spTree>
    <p:extLst>
      <p:ext uri="{BB962C8B-B14F-4D97-AF65-F5344CB8AC3E}">
        <p14:creationId xmlns:p14="http://schemas.microsoft.com/office/powerpoint/2010/main" val="3912096380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{CF62DF90-2922-48DF-9140-64ED2D2AE9BE}05f950ec-c865-457c-93ae-9eb2ef1c603f-TFa19fa653-f273-4169-96ef-448bb1cd1027_win32</Template>
  <TotalTime>121</TotalTime>
  <Words>562</Words>
  <Application>Microsoft Office PowerPoint</Application>
  <PresentationFormat>Widescreen</PresentationFormat>
  <Paragraphs>113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Neue Haas Grotesk Text Pro</vt:lpstr>
      <vt:lpstr>OasisVTI</vt:lpstr>
      <vt:lpstr>AI Based DoS Detection for SOC</vt:lpstr>
      <vt:lpstr>The Problem</vt:lpstr>
      <vt:lpstr>Project Goal</vt:lpstr>
      <vt:lpstr>Dataset – CICIDS2017</vt:lpstr>
      <vt:lpstr>System Architecture</vt:lpstr>
      <vt:lpstr>Data Preparation &amp; Feature Selection</vt:lpstr>
      <vt:lpstr>Machine Learning Models</vt:lpstr>
      <vt:lpstr>Model Performance</vt:lpstr>
      <vt:lpstr>Security Relevant Error Rates</vt:lpstr>
      <vt:lpstr>SOC Risk Scoring &amp; Policy Gate</vt:lpstr>
      <vt:lpstr>Explainability &amp; Human in the Loop</vt:lpstr>
      <vt:lpstr>Final SOC Alert</vt:lpstr>
      <vt:lpstr>Monitoring &amp; Retraining Policy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Noga Menahem</dc:creator>
  <cp:lastModifiedBy>Noga Menahem</cp:lastModifiedBy>
  <cp:revision>1</cp:revision>
  <dcterms:created xsi:type="dcterms:W3CDTF">2026-09-22T11:33:18Z</dcterms:created>
  <dcterms:modified xsi:type="dcterms:W3CDTF">2026-09-22T13:34:22Z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
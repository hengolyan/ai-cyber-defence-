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5199975" cy="35999738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80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2E1B-1A0C-4BF8-951F-1352F0A15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buNone/>
              <a:defRPr sz="16535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A2295-9EF8-42B4-BD95-79FC72240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D5F6C-C6ED-4C36-9C76-80ABD55F35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D2403-984B-4C21-B563-616D83C347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7B813-A124-42A4-8DE4-194FD19647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D778-E96F-4B53-AA06-32EEE70E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D961-8DE8-463B-92D3-4B14FB743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E04F3-0A8D-450A-84B9-7C9AAC1287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D53FF-0E2C-41BD-A2BA-85EBDCA30E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58ABA-08E7-4203-B00A-1BE488D36F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1FFD-8189-44E6-99A0-7323AEB0E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buNone/>
              <a:defRPr sz="16535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FC4BD-F32F-427D-AA94-D30939872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32711-6FEB-48E7-9027-558D4128A9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5B4F5-5D87-4A36-BC56-5D51EFA834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7EFBB-6AB3-4602-864B-C31D4886A2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5599-91A1-46A0-8B6E-09383979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0EB0-242C-4940-9210-048B93BF7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D29F-2DEA-42EE-8F4D-3423CAF1983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CBB2B-CF06-4396-8464-2BF2CB0AE2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71BEA-6350-4CD2-BED7-B00D368224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58E83-47F5-4604-BA73-75F2156F9F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680A-C2FF-462F-89F1-7D1FEBE4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59161-24BB-4D9B-97D3-605787532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BEBEC-D741-43CD-9397-556C58ED25A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C27BB-319B-444C-8721-6D7A2B3EB01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7D0141-BF35-42EA-9922-73BF04DC272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4B8C3-62A4-4A88-900A-43EA350FE4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C5523-3649-4C17-8004-B8E8986C7A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A1D5F-8611-4D79-8BD3-87DA47BDE0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563D1-1FD0-44FA-9F66-5993C9C6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2D275-5607-4D27-9A3C-89BAF0059B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F5D84-308B-4B17-9BE0-88B951BA06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5E21F-238A-475B-8406-CD54CE6602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6B0EF-4CC0-4D57-AFBE-DDFEBD75C4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553339-C0CE-4C66-8128-9737269161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9C5-E154-424A-AD22-2A77299BBD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76E3-358D-456B-A408-3605D4EC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buNone/>
              <a:defRPr sz="8819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F5E0-3456-41C9-BAE5-0B2209AA4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buNone/>
              <a:defRPr sz="8819"/>
            </a:lvl1pPr>
            <a:lvl2pPr>
              <a:buNone/>
              <a:defRPr sz="7717"/>
            </a:lvl2pPr>
            <a:lvl3pPr>
              <a:buNone/>
              <a:defRPr sz="6614"/>
            </a:lvl3pPr>
            <a:lvl4pPr>
              <a:buNone/>
              <a:defRPr sz="5512"/>
            </a:lvl4pPr>
            <a:lvl5pPr>
              <a:buNone/>
              <a:defRPr sz="5512"/>
            </a:lvl5pPr>
            <a:lvl6pPr>
              <a:buNone/>
              <a:defRPr sz="5512"/>
            </a:lvl6pPr>
            <a:lvl7pPr>
              <a:buNone/>
              <a:defRPr sz="5512"/>
            </a:lvl7pPr>
            <a:lvl8pPr>
              <a:buNone/>
              <a:defRPr sz="5512"/>
            </a:lvl8pPr>
            <a:lvl9pPr>
              <a:buNone/>
              <a:defRPr sz="5512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4FD4F-1A90-4BD8-BF29-B07305321DF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97D4B-E1C4-494D-BEDA-3C747CBEE5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100D4-3476-4832-8339-331C945A06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5105B-0A52-4470-9EFC-DE385A06B8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7EF6-6830-4CEE-8C5B-6BC47F80B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buNone/>
              <a:defRPr sz="8819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C7346-8103-4A6C-B39C-DB360E370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2FFFB-26E5-4427-9B38-A20C3184A3D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97327-5DBE-465B-9046-F31B712BF9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47766-54A6-40C1-8F0F-DE3406417A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22E57-C64F-4D34-BF54-E150B14293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60B0-ECF7-471D-A22A-A1DCABAB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7C1C8-C5C6-4381-98CC-B57EBD250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C1248-9130-4A46-9DA2-16C1D27998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4B4F7-C5B1-4FAA-BC83-0C4E8C7719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CCE5-02B2-484F-A425-B95C9FA876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E68B2-FAEA-407E-AC1C-EA25718DC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A2365-1E94-4037-B468-F467F4D3A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FFE9-1580-4F11-B6E1-F36A40FE2F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6EE48-8FC8-4A3B-8658-2A0818E23D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095C2-8A3B-4458-BCDA-D877FB6C85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2CB9A-9BA4-4F40-AC33-1A1DB0F02A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D40FC-5589-41F2-BA4B-89D5BFB37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0493D-3D5C-47CB-BB5A-46F9A9D8C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C9187-433E-4DE9-BD75-77581AA9613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t>י"א/תשרי/תשפ"ז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ECD9-0C37-49A3-97D7-1A9BACF807A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315DF-9E86-4123-A839-7803DEBDAEB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519995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629999" indent="-629999" algn="l" defTabSz="2519995">
        <a:lnSpc>
          <a:spcPct val="90000"/>
        </a:lnSpc>
        <a:spcBef>
          <a:spcPts val="2756"/>
        </a:spcBef>
        <a:buFont typeface="Arial"/>
        <a:buChar char="•"/>
        <a:defRPr sz="7717" kern="1200">
          <a:solidFill>
            <a:schemeClr val="tx1"/>
          </a:solidFill>
          <a:latin typeface="+mn-lt"/>
          <a:ea typeface="+mn-lt"/>
          <a:cs typeface="+mn-lt"/>
        </a:defRPr>
      </a:lvl1pPr>
      <a:lvl2pPr marL="1889996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6614" kern="1200">
          <a:solidFill>
            <a:schemeClr val="tx1"/>
          </a:solidFill>
          <a:latin typeface="+mn-lt"/>
          <a:ea typeface="+mn-lt"/>
          <a:cs typeface="+mn-lt"/>
        </a:defRPr>
      </a:lvl2pPr>
      <a:lvl3pPr marL="3149994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5512" kern="1200">
          <a:solidFill>
            <a:schemeClr val="tx1"/>
          </a:solidFill>
          <a:latin typeface="+mn-lt"/>
          <a:ea typeface="+mn-lt"/>
          <a:cs typeface="+mn-lt"/>
        </a:defRPr>
      </a:lvl3pPr>
      <a:lvl4pPr marL="4409991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4pPr>
      <a:lvl5pPr marL="5669989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5pPr>
      <a:lvl6pPr marL="6929986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6pPr>
      <a:lvl7pPr marL="8189984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7pPr>
      <a:lvl8pPr marL="9449981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8pPr>
      <a:lvl9pPr marL="10709979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1pPr>
      <a:lvl2pPr marL="1259997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2pPr>
      <a:lvl3pPr marL="2519995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3pPr>
      <a:lvl4pPr marL="3779992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4pPr>
      <a:lvl5pPr marL="503999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5pPr>
      <a:lvl6pPr marL="6299987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6pPr>
      <a:lvl7pPr marL="7559985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7pPr>
      <a:lvl8pPr marL="8819982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8pPr>
      <a:lvl9pPr marL="1007998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2"/>
          <p:cNvGraphicFramePr/>
          <p:nvPr>
            <p:extLst>
              <p:ext uri="{D42A27DB-BD31-4B8C-83A1-F6EECF244321}">
                <p14:modId xmlns:p14="http://schemas.microsoft.com/office/powerpoint/2010/main" val="3155186655"/>
              </p:ext>
            </p:extLst>
          </p:nvPr>
        </p:nvGraphicFramePr>
        <p:xfrm>
          <a:off x="818147" y="686147"/>
          <a:ext cx="23509706" cy="356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0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0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1860">
                <a:tc>
                  <a:txBody>
                    <a:bodyPr/>
                    <a:lstStyle/>
                    <a:p>
                      <a:pPr marL="0" marR="0" lvl="0" indent="0" algn="ctr" defTabSz="251999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4000"/>
                        <a:t>AI Enhanced Cybersecurity</a:t>
                      </a:r>
                    </a:p>
                  </a:txBody>
                  <a:tcPr anchor="ctr">
                    <a:solidFill>
                      <a:srgbClr val="B9688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600" dirty="0"/>
                        <a:t>AI Based DoS Detection for SOC </a:t>
                      </a:r>
                    </a:p>
                    <a:p>
                      <a:pPr algn="ctr">
                        <a:buNone/>
                      </a:pPr>
                      <a:r>
                        <a:rPr sz="4800" dirty="0"/>
                        <a:t>Noga Menahem, Hen Golyan</a:t>
                      </a:r>
                    </a:p>
                    <a:p>
                      <a:pPr algn="ctr">
                        <a:buNone/>
                      </a:pPr>
                      <a:r>
                        <a:rPr sz="3600" b="1" dirty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2026, Summer semester – </a:t>
                      </a:r>
                      <a:r>
                        <a:rPr sz="3600" b="1" dirty="0" err="1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שנת</a:t>
                      </a:r>
                      <a:r>
                        <a:rPr sz="3600" b="1" dirty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 </a:t>
                      </a:r>
                      <a:r>
                        <a:rPr sz="3600" b="1" dirty="0" err="1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תשפ</a:t>
                      </a:r>
                      <a:r>
                        <a:rPr lang="he-IL" sz="3600" b="1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"ז</a:t>
                      </a:r>
                      <a:r>
                        <a:rPr sz="3600" b="1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, </a:t>
                      </a:r>
                      <a:r>
                        <a:rPr sz="3600" b="1" dirty="0" err="1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סמסטר</a:t>
                      </a:r>
                      <a:r>
                        <a:rPr sz="3600" b="1" dirty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 </a:t>
                      </a:r>
                      <a:r>
                        <a:rPr sz="3600" b="1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קיץ</a:t>
                      </a:r>
                      <a:r>
                        <a:rPr sz="3600" b="1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3600" b="1" kern="1200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B96888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B96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5400" b="1" dirty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Andrei </a:t>
                      </a:r>
                      <a:r>
                        <a:rPr sz="5400" b="1" dirty="0" err="1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KoJukhov</a:t>
                      </a:r>
                      <a:endParaRPr sz="5400" b="1" kern="1200" dirty="0">
                        <a:solidFill>
                          <a:schemeClr val="lt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solidFill>
                      <a:srgbClr val="B9688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2E9B59-38DC-46AD-A4E5-9A55979323A6}"/>
              </a:ext>
            </a:extLst>
          </p:cNvPr>
          <p:cNvSpPr>
            <a:spLocks noGrp="1"/>
          </p:cNvSpPr>
          <p:nvPr/>
        </p:nvSpPr>
        <p:spPr>
          <a:xfrm>
            <a:off x="818147" y="4591050"/>
            <a:ext cx="23509706" cy="30743308"/>
          </a:xfrm>
          <a:prstGeom prst="roundRect">
            <a:avLst/>
          </a:prstGeom>
          <a:solidFill>
            <a:srgbClr val="F7D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8301" y="921852"/>
            <a:ext cx="4378492" cy="309231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E13EC0-B295-17A4-34E0-19F0B98E34CC}"/>
              </a:ext>
            </a:extLst>
          </p:cNvPr>
          <p:cNvSpPr>
            <a:spLocks noGrp="1"/>
          </p:cNvSpPr>
          <p:nvPr/>
        </p:nvSpPr>
        <p:spPr>
          <a:xfrm>
            <a:off x="2743200" y="5137587"/>
            <a:ext cx="19822886" cy="3285156"/>
          </a:xfrm>
          <a:prstGeom prst="roundRect">
            <a:avLst/>
          </a:prstGeom>
          <a:solidFill>
            <a:srgbClr val="FF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5400">
                <a:solidFill>
                  <a:srgbClr val="A65075"/>
                </a:solidFill>
              </a:rPr>
              <a:t>Introduction</a:t>
            </a:r>
            <a:endParaRPr>
              <a:solidFill>
                <a:srgbClr val="54455E"/>
              </a:solidFill>
            </a:endParaRPr>
          </a:p>
          <a:p>
            <a:pPr algn="ctr">
              <a:buNone/>
            </a:pPr>
            <a:r>
              <a:rPr sz="3200">
                <a:solidFill>
                  <a:srgbClr val="54455E"/>
                </a:solidFill>
              </a:rPr>
              <a:t>This project develops an AI-assisted SOC pipeline for detecting DoS attacks using machine learning. Random Forest and Isolation Forest were compared, and the selected model was integrated with risk scoring, explainability, MITRE ATT&amp;CK mapping, human review, logging, and monitoring.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71C60D-A6F9-B29B-1309-DEA15D5058F8}"/>
              </a:ext>
            </a:extLst>
          </p:cNvPr>
          <p:cNvSpPr>
            <a:spLocks noGrp="1"/>
          </p:cNvSpPr>
          <p:nvPr/>
        </p:nvSpPr>
        <p:spPr>
          <a:xfrm>
            <a:off x="1302238" y="8627219"/>
            <a:ext cx="6481884" cy="6732185"/>
          </a:xfrm>
          <a:prstGeom prst="roundRect">
            <a:avLst/>
          </a:prstGeom>
          <a:solidFill>
            <a:srgbClr val="FF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4600">
                <a:solidFill>
                  <a:srgbClr val="A65075"/>
                </a:solidFill>
              </a:rPr>
              <a:t>Methodology &amp; System Architecture</a:t>
            </a:r>
            <a:endParaRPr>
              <a:solidFill>
                <a:srgbClr val="54455E"/>
              </a:solidFill>
            </a:endParaRPr>
          </a:p>
          <a:p>
            <a:r>
              <a:rPr sz="3200" b="1">
                <a:solidFill>
                  <a:srgbClr val="54455E"/>
                </a:solidFill>
              </a:rPr>
              <a:t>Dataset:</a:t>
            </a:r>
            <a:r>
              <a:rPr sz="3200">
                <a:solidFill>
                  <a:srgbClr val="54455E"/>
                </a:solidFill>
              </a:rPr>
              <a:t> CICIDS2017 - Wednesday Working Hours</a:t>
            </a:r>
            <a:br/>
            <a:r>
              <a:rPr sz="3200" b="1">
                <a:solidFill>
                  <a:srgbClr val="54455E"/>
                </a:solidFill>
              </a:rPr>
              <a:t>Task:</a:t>
            </a:r>
            <a:r>
              <a:rPr sz="3200">
                <a:solidFill>
                  <a:srgbClr val="54455E"/>
                </a:solidFill>
              </a:rPr>
              <a:t> Binary classification - Normal vs. DoS</a:t>
            </a:r>
            <a:br/>
            <a:r>
              <a:rPr sz="3200" b="1">
                <a:solidFill>
                  <a:srgbClr val="54455E"/>
                </a:solidFill>
              </a:rPr>
              <a:t>Models:</a:t>
            </a:r>
            <a:r>
              <a:rPr sz="3200">
                <a:solidFill>
                  <a:srgbClr val="54455E"/>
                </a:solidFill>
              </a:rPr>
              <a:t> Random Forest and Isolation Forest</a:t>
            </a:r>
            <a:br/>
            <a:r>
              <a:rPr sz="3200" b="1">
                <a:solidFill>
                  <a:srgbClr val="54455E"/>
                </a:solidFill>
              </a:rPr>
              <a:t>Train/Test Split:</a:t>
            </a:r>
            <a:r>
              <a:rPr sz="3200">
                <a:solidFill>
                  <a:srgbClr val="54455E"/>
                </a:solidFill>
              </a:rPr>
              <a:t> 80/20 stratified</a:t>
            </a:r>
            <a:br/>
            <a:r>
              <a:rPr sz="3200" b="1">
                <a:solidFill>
                  <a:srgbClr val="54455E"/>
                </a:solidFill>
              </a:rPr>
              <a:t>Selected Features:</a:t>
            </a:r>
            <a:r>
              <a:rPr sz="3200">
                <a:solidFill>
                  <a:srgbClr val="54455E"/>
                </a:solidFill>
              </a:rPr>
              <a:t> 12 network flow features</a:t>
            </a:r>
          </a:p>
        </p:txBody>
      </p:sp>
      <p:pic>
        <p:nvPicPr>
          <p:cNvPr id="41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56" y="21396851"/>
            <a:ext cx="13164038" cy="7513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576E84-D6BB-5504-B170-948325CCEC96}"/>
              </a:ext>
            </a:extLst>
          </p:cNvPr>
          <p:cNvSpPr>
            <a:spLocks noGrp="1"/>
          </p:cNvSpPr>
          <p:nvPr/>
        </p:nvSpPr>
        <p:spPr>
          <a:xfrm>
            <a:off x="14613477" y="21489767"/>
            <a:ext cx="9382845" cy="3298548"/>
          </a:xfrm>
          <a:prstGeom prst="roundRect">
            <a:avLst/>
          </a:prstGeom>
          <a:solidFill>
            <a:srgbClr val="FF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5400">
                <a:solidFill>
                  <a:srgbClr val="A65075"/>
                </a:solidFill>
              </a:rPr>
              <a:t>Results</a:t>
            </a:r>
            <a:endParaRPr>
              <a:solidFill>
                <a:srgbClr val="54455E"/>
              </a:solidFill>
            </a:endParaRPr>
          </a:p>
          <a:p>
            <a:pPr algn="ctr">
              <a:buNone/>
            </a:pPr>
            <a:r>
              <a:rPr sz="3600">
                <a:solidFill>
                  <a:srgbClr val="54455E"/>
                </a:solidFill>
              </a:rPr>
              <a:t> </a:t>
            </a:r>
            <a:r>
              <a:rPr sz="3200">
                <a:solidFill>
                  <a:srgbClr val="54455E"/>
                </a:solidFill>
              </a:rPr>
              <a:t>Random Forest achieved consistently better performance, with 98.96% Accuracy and 99.45% Recall, and was selected as the primary DoS detection model.</a:t>
            </a:r>
            <a:endParaRPr sz="3600">
              <a:solidFill>
                <a:srgbClr val="54455E"/>
              </a:solidFill>
            </a:endParaRPr>
          </a:p>
        </p:txBody>
      </p:sp>
      <p:pic>
        <p:nvPicPr>
          <p:cNvPr id="43" name="Picture 18"/>
          <p:cNvPicPr>
            <a:picLocks noChangeAspect="1"/>
          </p:cNvPicPr>
          <p:nvPr/>
        </p:nvPicPr>
        <p:blipFill>
          <a:blip r:embed="rId5"/>
          <a:srcRect l="855"/>
          <a:stretch>
            <a:fillRect/>
          </a:stretch>
        </p:blipFill>
        <p:spPr>
          <a:xfrm>
            <a:off x="14638582" y="25044785"/>
            <a:ext cx="9332637" cy="71845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4A57FAE-A663-C7CB-885C-EAA6778EDF8C}"/>
              </a:ext>
            </a:extLst>
          </p:cNvPr>
          <p:cNvSpPr>
            <a:spLocks noGrp="1"/>
          </p:cNvSpPr>
          <p:nvPr/>
        </p:nvSpPr>
        <p:spPr>
          <a:xfrm>
            <a:off x="1302238" y="29114546"/>
            <a:ext cx="12979710" cy="3118054"/>
          </a:xfrm>
          <a:prstGeom prst="roundRect">
            <a:avLst/>
          </a:prstGeom>
          <a:solidFill>
            <a:srgbClr val="FF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5400">
                <a:solidFill>
                  <a:srgbClr val="A65075"/>
                </a:solidFill>
              </a:rPr>
              <a:t>Conclusions</a:t>
            </a:r>
            <a:endParaRPr>
              <a:solidFill>
                <a:srgbClr val="54455E"/>
              </a:solidFill>
            </a:endParaRPr>
          </a:p>
          <a:p>
            <a:r>
              <a:rPr sz="3200">
                <a:solidFill>
                  <a:srgbClr val="54455E"/>
                </a:solidFill>
              </a:rPr>
              <a:t>• Random Forest significantly outperformed Isolation Forest.</a:t>
            </a:r>
            <a:br/>
            <a:r>
              <a:rPr sz="3200">
                <a:solidFill>
                  <a:srgbClr val="54455E"/>
                </a:solidFill>
              </a:rPr>
              <a:t>• The final pipeline provides risk scoring, explainability and MITRE ATT&amp;CK context.</a:t>
            </a:r>
            <a:br/>
            <a:r>
              <a:rPr sz="3200">
                <a:solidFill>
                  <a:srgbClr val="54455E"/>
                </a:solidFill>
              </a:rPr>
              <a:t>• Human review prevents fully automated security decisions.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86F335-7C1C-EBA7-EFB9-43147F881C60}"/>
              </a:ext>
            </a:extLst>
          </p:cNvPr>
          <p:cNvSpPr>
            <a:spLocks noGrp="1"/>
          </p:cNvSpPr>
          <p:nvPr/>
        </p:nvSpPr>
        <p:spPr>
          <a:xfrm>
            <a:off x="3494314" y="32433859"/>
            <a:ext cx="18647229" cy="2644027"/>
          </a:xfrm>
          <a:prstGeom prst="roundRect">
            <a:avLst/>
          </a:prstGeom>
          <a:solidFill>
            <a:srgbClr val="FF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5400">
                <a:solidFill>
                  <a:srgbClr val="A65075"/>
                </a:solidFill>
              </a:rPr>
              <a:t>Discussions / Future Work</a:t>
            </a:r>
            <a:endParaRPr>
              <a:solidFill>
                <a:srgbClr val="54455E"/>
              </a:solidFill>
            </a:endParaRPr>
          </a:p>
          <a:p>
            <a:r>
              <a:rPr sz="3200">
                <a:solidFill>
                  <a:srgbClr val="54455E"/>
                </a:solidFill>
              </a:rPr>
              <a:t>• Evaluate the model on additional and real-time network traffic.</a:t>
            </a:r>
            <a:br/>
            <a:r>
              <a:rPr sz="3200">
                <a:solidFill>
                  <a:srgbClr val="54455E"/>
                </a:solidFill>
              </a:rPr>
              <a:t>• Extend the system with additional attack categories, drift monitoring and SIEM integration.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8C5C23-C58F-B948-9A50-692772C41F7A}"/>
              </a:ext>
            </a:extLst>
          </p:cNvPr>
          <p:cNvSpPr>
            <a:spLocks noGrp="1"/>
          </p:cNvSpPr>
          <p:nvPr/>
        </p:nvSpPr>
        <p:spPr>
          <a:xfrm>
            <a:off x="1302238" y="15700587"/>
            <a:ext cx="6481884" cy="5495005"/>
          </a:xfrm>
          <a:prstGeom prst="roundRect">
            <a:avLst/>
          </a:prstGeom>
          <a:solidFill>
            <a:srgbClr val="FF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5400">
                <a:solidFill>
                  <a:srgbClr val="A65075"/>
                </a:solidFill>
              </a:rPr>
              <a:t>Source Code / Project Repository</a:t>
            </a:r>
            <a:endParaRPr sz="5400">
              <a:solidFill>
                <a:srgbClr val="54455E"/>
              </a:solidFill>
            </a:endParaRPr>
          </a:p>
          <a:p>
            <a:pPr algn="ctr">
              <a:buNone/>
            </a:pPr>
            <a:endParaRPr sz="5400">
              <a:solidFill>
                <a:srgbClr val="54455E"/>
              </a:solidFill>
            </a:endParaRPr>
          </a:p>
          <a:p>
            <a:pPr algn="ctr">
              <a:buNone/>
            </a:pPr>
            <a:endParaRPr sz="5400">
              <a:solidFill>
                <a:srgbClr val="54455E"/>
              </a:solidFill>
            </a:endParaRPr>
          </a:p>
          <a:p>
            <a:pPr algn="ctr">
              <a:buNone/>
            </a:pPr>
            <a:r>
              <a:rPr sz="3200">
                <a:solidFill>
                  <a:srgbClr val="54455E"/>
                </a:solidFill>
              </a:rPr>
              <a:t>GitHub Repository</a:t>
            </a:r>
            <a:br/>
            <a:r>
              <a:rPr sz="3200">
                <a:solidFill>
                  <a:srgbClr val="54455E"/>
                </a:solidFill>
              </a:rPr>
              <a:t>Notebook + SOC log + source files</a:t>
            </a:r>
            <a:endParaRPr>
              <a:solidFill>
                <a:srgbClr val="54455E"/>
              </a:solidFill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51AF8C96-7F06-B83B-D3C3-589622552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213" y="8627219"/>
            <a:ext cx="15629524" cy="124284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232</Words>
  <Application>Microsoft Office PowerPoint</Application>
  <DocSecurity>0</DocSecurity>
  <PresentationFormat>מותאם אישית</PresentationFormat>
  <Paragraphs>19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חן גוליאן</cp:lastModifiedBy>
  <cp:revision>2</cp:revision>
  <dcterms:created xsi:type="dcterms:W3CDTF">2026-09-22T19:27:34Z</dcterms:created>
  <dcterms:modified xsi:type="dcterms:W3CDTF">2026-09-22T19:41:24Z</dcterms:modified>
</cp:coreProperties>
</file>